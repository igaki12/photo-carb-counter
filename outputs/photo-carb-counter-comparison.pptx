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f47f9197443e0" /><Relationship Type="http://schemas.openxmlformats.org/officeDocument/2006/relationships/extended-properties" Target="/docProps/app.xml" Id="Rd7b9fc7f060e4567" /><Relationship Type="http://schemas.openxmlformats.org/officeDocument/2006/relationships/officeDocument" Target="/ppt/presentation.xml" Id="R50c4758809dd4da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706a71ac58343b4"/>
  </p:sldMasterIdLst>
  <p:notesMasterIdLst>
    <p:notesMasterId xmlns:r="http://schemas.openxmlformats.org/officeDocument/2006/relationships" r:id="Ra0d7dd0d586d468f"/>
  </p:notesMasterIdLst>
  <p:sldIdLst>
    <p:sldId xmlns:r="http://schemas.openxmlformats.org/officeDocument/2006/relationships" id="256" r:id="R909b9ee2128d42df"/>
    <p:sldId xmlns:r="http://schemas.openxmlformats.org/officeDocument/2006/relationships" id="257" r:id="R28340d57d43744db"/>
    <p:sldId xmlns:r="http://schemas.openxmlformats.org/officeDocument/2006/relationships" id="258" r:id="Rd1753dff28a14b2f"/>
    <p:sldId xmlns:r="http://schemas.openxmlformats.org/officeDocument/2006/relationships" id="259" r:id="R1b69747141e54920"/>
    <p:sldId xmlns:r="http://schemas.openxmlformats.org/officeDocument/2006/relationships" id="260" r:id="R3a52461bd9744fab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9beebb92e9634103"/>
      <p:italic xmlns:r="http://schemas.openxmlformats.org/officeDocument/2006/relationships" r:id="Rd93975bb144249b5"/>
    </p:embeddedFont>
    <p:embeddedFont>
      <p:font typeface="Lora SemiBold"/>
      <p:regular xmlns:r="http://schemas.openxmlformats.org/officeDocument/2006/relationships" r:id="R4d43f69519b64f95"/>
      <p:bold xmlns:r="http://schemas.openxmlformats.org/officeDocument/2006/relationships" r:id="R3e6c6deb019648a5"/>
      <p:italic xmlns:r="http://schemas.openxmlformats.org/officeDocument/2006/relationships" r:id="R9769bb717ca849ec"/>
      <p:boldItalic xmlns:r="http://schemas.openxmlformats.org/officeDocument/2006/relationships" r:id="R7754b6fb32fb4b0b"/>
    </p:embeddedFont>
    <p:embeddedFont>
      <p:font typeface="OpenAI Sans"/>
      <p:regular xmlns:r="http://schemas.openxmlformats.org/officeDocument/2006/relationships" r:id="R2d07b71384824ec2"/>
      <p:bold xmlns:r="http://schemas.openxmlformats.org/officeDocument/2006/relationships" r:id="Receb369f62784c97"/>
      <p:italic xmlns:r="http://schemas.openxmlformats.org/officeDocument/2006/relationships" r:id="Rd00dc1eea6cb40c8"/>
      <p:boldItalic xmlns:r="http://schemas.openxmlformats.org/officeDocument/2006/relationships" r:id="R8b08371da12e478a"/>
    </p:embeddedFont>
    <p:embeddedFont>
      <p:font typeface="Roboto"/>
      <p:regular xmlns:r="http://schemas.openxmlformats.org/officeDocument/2006/relationships" r:id="Rf70cfdbddd56465b"/>
      <p:bold xmlns:r="http://schemas.openxmlformats.org/officeDocument/2006/relationships" r:id="Rf32a161befc74f10"/>
      <p:italic xmlns:r="http://schemas.openxmlformats.org/officeDocument/2006/relationships" r:id="R96e266be0ea54dca"/>
      <p:boldItalic xmlns:r="http://schemas.openxmlformats.org/officeDocument/2006/relationships" r:id="R4f7a6c7ab1bc49b2"/>
    </p:embeddedFont>
    <p:embeddedFont>
      <p:font typeface="Roboto Medium"/>
      <p:regular xmlns:r="http://schemas.openxmlformats.org/officeDocument/2006/relationships" r:id="Ref5db4fe07574d2e"/>
      <p:italic xmlns:r="http://schemas.openxmlformats.org/officeDocument/2006/relationships" r:id="R63cacc8203c449de"/>
    </p:embeddedFont>
    <p:embeddedFont>
      <p:font typeface="Roboto SemiBold"/>
      <p:regular xmlns:r="http://schemas.openxmlformats.org/officeDocument/2006/relationships" r:id="R7815f566184143fd"/>
      <p:bold xmlns:r="http://schemas.openxmlformats.org/officeDocument/2006/relationships" r:id="R56fa8f3bb5cc4f21"/>
      <p:italic xmlns:r="http://schemas.openxmlformats.org/officeDocument/2006/relationships" r:id="R0954fac18ca1425b"/>
      <p:boldItalic xmlns:r="http://schemas.openxmlformats.org/officeDocument/2006/relationships" r:id="Rb150b97860274a01"/>
    </p:embeddedFont>
    <p:embeddedFont>
      <p:font typeface="Roboto Serif 14pt"/>
      <p:regular xmlns:r="http://schemas.openxmlformats.org/officeDocument/2006/relationships" r:id="R5ac1aa624cd04e18"/>
      <p:bold xmlns:r="http://schemas.openxmlformats.org/officeDocument/2006/relationships" r:id="Rfc3438d65bbf43a2"/>
      <p:italic xmlns:r="http://schemas.openxmlformats.org/officeDocument/2006/relationships" r:id="R14c9c67f40c84fd0"/>
      <p:boldItalic xmlns:r="http://schemas.openxmlformats.org/officeDocument/2006/relationships" r:id="R0994282b7e0b4200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de6ec623c41ae" /><Relationship Type="http://schemas.openxmlformats.org/officeDocument/2006/relationships/slideMaster" Target="/ppt/slideMasters/slideMaster1.xml" Id="R5706a71ac58343b4" /><Relationship Type="http://schemas.openxmlformats.org/officeDocument/2006/relationships/notesMaster" Target="/ppt/notesMasters/notesMaster1.xml" Id="Ra0d7dd0d586d468f" /><Relationship Type="http://schemas.openxmlformats.org/officeDocument/2006/relationships/presProps" Target="/ppt/presProps.xml" Id="R891d465aa5424c01" /><Relationship Type="http://schemas.openxmlformats.org/officeDocument/2006/relationships/viewProps" Target="/ppt/viewProps.xml" Id="R4f141c706737430e" /><Relationship Type="http://schemas.openxmlformats.org/officeDocument/2006/relationships/tableStyles" Target="/ppt/tableStyles.xml" Id="R749c3cfe95f9449a" /><Relationship Type="http://schemas.openxmlformats.org/officeDocument/2006/relationships/font" Target="/ppt/fonts/font.dat" Id="R9beebb92e9634103" /><Relationship Type="http://schemas.openxmlformats.org/officeDocument/2006/relationships/font" Target="/ppt/fonts/font2.dat" Id="Rd93975bb144249b5" /><Relationship Type="http://schemas.openxmlformats.org/officeDocument/2006/relationships/font" Target="/ppt/fonts/font3.dat" Id="R4d43f69519b64f95" /><Relationship Type="http://schemas.openxmlformats.org/officeDocument/2006/relationships/font" Target="/ppt/fonts/font4.dat" Id="R3e6c6deb019648a5" /><Relationship Type="http://schemas.openxmlformats.org/officeDocument/2006/relationships/font" Target="/ppt/fonts/font5.dat" Id="R9769bb717ca849ec" /><Relationship Type="http://schemas.openxmlformats.org/officeDocument/2006/relationships/font" Target="/ppt/fonts/font6.dat" Id="R7754b6fb32fb4b0b" /><Relationship Type="http://schemas.openxmlformats.org/officeDocument/2006/relationships/font" Target="/ppt/fonts/font7.dat" Id="R2d07b71384824ec2" /><Relationship Type="http://schemas.openxmlformats.org/officeDocument/2006/relationships/font" Target="/ppt/fonts/font8.dat" Id="Receb369f62784c97" /><Relationship Type="http://schemas.openxmlformats.org/officeDocument/2006/relationships/font" Target="/ppt/fonts/font9.dat" Id="Rd00dc1eea6cb40c8" /><Relationship Type="http://schemas.openxmlformats.org/officeDocument/2006/relationships/font" Target="/ppt/fonts/font10.dat" Id="R8b08371da12e478a" /><Relationship Type="http://schemas.openxmlformats.org/officeDocument/2006/relationships/font" Target="/ppt/fonts/font11.dat" Id="Rf70cfdbddd56465b" /><Relationship Type="http://schemas.openxmlformats.org/officeDocument/2006/relationships/font" Target="/ppt/fonts/font12.dat" Id="Rf32a161befc74f10" /><Relationship Type="http://schemas.openxmlformats.org/officeDocument/2006/relationships/font" Target="/ppt/fonts/font13.dat" Id="R96e266be0ea54dca" /><Relationship Type="http://schemas.openxmlformats.org/officeDocument/2006/relationships/font" Target="/ppt/fonts/font14.dat" Id="R4f7a6c7ab1bc49b2" /><Relationship Type="http://schemas.openxmlformats.org/officeDocument/2006/relationships/font" Target="/ppt/fonts/font15.dat" Id="Ref5db4fe07574d2e" /><Relationship Type="http://schemas.openxmlformats.org/officeDocument/2006/relationships/font" Target="/ppt/fonts/font16.dat" Id="R63cacc8203c449de" /><Relationship Type="http://schemas.openxmlformats.org/officeDocument/2006/relationships/font" Target="/ppt/fonts/font17.dat" Id="R7815f566184143fd" /><Relationship Type="http://schemas.openxmlformats.org/officeDocument/2006/relationships/font" Target="/ppt/fonts/font18.dat" Id="R56fa8f3bb5cc4f21" /><Relationship Type="http://schemas.openxmlformats.org/officeDocument/2006/relationships/font" Target="/ppt/fonts/font19.dat" Id="R0954fac18ca1425b" /><Relationship Type="http://schemas.openxmlformats.org/officeDocument/2006/relationships/font" Target="/ppt/fonts/font20.dat" Id="Rb150b97860274a01" /><Relationship Type="http://schemas.openxmlformats.org/officeDocument/2006/relationships/font" Target="/ppt/fonts/font21.dat" Id="R5ac1aa624cd04e18" /><Relationship Type="http://schemas.openxmlformats.org/officeDocument/2006/relationships/font" Target="/ppt/fonts/font22.dat" Id="Rfc3438d65bbf43a2" /><Relationship Type="http://schemas.openxmlformats.org/officeDocument/2006/relationships/font" Target="/ppt/fonts/font23.dat" Id="R14c9c67f40c84fd0" /><Relationship Type="http://schemas.openxmlformats.org/officeDocument/2006/relationships/font" Target="/ppt/fonts/font24.dat" Id="R0994282b7e0b4200" /><Relationship Type="http://schemas.openxmlformats.org/officeDocument/2006/relationships/slide" Target="/ppt/slides/slide1.xml" Id="R909b9ee2128d42df" /><Relationship Type="http://schemas.openxmlformats.org/officeDocument/2006/relationships/slide" Target="/ppt/slides/slide2.xml" Id="R28340d57d43744db" /><Relationship Type="http://schemas.openxmlformats.org/officeDocument/2006/relationships/slide" Target="/ppt/slides/slide3.xml" Id="Rd1753dff28a14b2f" /><Relationship Type="http://schemas.openxmlformats.org/officeDocument/2006/relationships/slide" Target="/ppt/slides/slide4.xml" Id="R1b69747141e54920" /><Relationship Type="http://schemas.openxmlformats.org/officeDocument/2006/relationships/slide" Target="/ppt/slides/slide5.xml" Id="R3a52461bd9744f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2d840efc45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5e3925f0c140cf" /><Relationship Type="http://schemas.openxmlformats.org/officeDocument/2006/relationships/notesMaster" Target="/ppt/notesMasters/notesMaster1.xml" Id="Ra3432ae22cf3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899f07c674e3a" /><Relationship Type="http://schemas.openxmlformats.org/officeDocument/2006/relationships/notesMaster" Target="/ppt/notesMasters/notesMaster1.xml" Id="R8178e2db1eb648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491be0c55747c9" /><Relationship Type="http://schemas.openxmlformats.org/officeDocument/2006/relationships/notesMaster" Target="/ppt/notesMasters/notesMaster1.xml" Id="R18158ec7f2334c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cee83a523498b" /><Relationship Type="http://schemas.openxmlformats.org/officeDocument/2006/relationships/notesMaster" Target="/ppt/notesMasters/notesMaster1.xml" Id="R6bef48b0e12d4e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968737fe9c4a54" /><Relationship Type="http://schemas.openxmlformats.org/officeDocument/2006/relationships/notesMaster" Target="/ppt/notesMasters/notesMaster1.xml" Id="Rd6a1506280e7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要点：既存の日本向けサービスは継続記録と糖尿病管理に強い。一方、この試作は写真の中の手を尺度にして、食品同定から重量、炭水化物までを一つの研究フローにまとめる。</a:t>
            </a:r>
          </a:p>
          <a:p xmlns:a="http://schemas.openxmlformats.org/drawingml/2006/main">
            <a:r>
              <a:t>Sources: local repository and user-provided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Smart e-SMBG https://e-smbg.net/app/ and official manual pages 30–34.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asken https://www.asken.jp/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Calomeal https://www.calomeal.com/about-calomeal/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CARB-LIFE https://carb-life.jp/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SNAQ https://www.snaq.ai/carb-counting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src/App.tsx; src/lib/gemini.ts; src/lib/hand.ts; src/lib/ranking.ts; src/lib/questions.ts; src/lib/carb.ts.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FNDDS count and safety scope follow the supplied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Baumgartner et al. 2024 https://pmc.ncbi.nlm.nih.gov/articles/PMC11571748/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Image-based diabetes review https://www.frontiersin.org/journals/nutrition/articles/10.3389/fnut.2025.1501946/full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LLM image accuracy https://pubmed.ncbi.nlm.nih.gov/41764031/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JDS guideline 2024 https://www.jds.or.jp/uploads/files/publications/gl2024/18.pdf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話す順序：1) 日本食ベンチマーク、2) 誤差分解、3) 使いやすさ機能、4) CGMは将来の振り返り用途。日本糖尿病学会はカーボカウントの有用性と同時に栄養バランスや脂質・蛋白質の影響も示している。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https://www.jds.or.jp/uploads/files/publications/gl2024/18.pdf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a5712fa0847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0565693ac44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2792276a944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4bfd36c0d41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fb5e899c44e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59723f1fb4c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ceca6e6fd488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75803e0c040a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6bca95da9a4737" /><Relationship Type="http://schemas.openxmlformats.org/officeDocument/2006/relationships/slideLayout" Target="/ppt/slideLayouts/slideLayout1.xml" Id="R1b0dd449ad8c407e" /><Relationship Type="http://schemas.openxmlformats.org/officeDocument/2006/relationships/slideLayout" Target="/ppt/slideLayouts/slideLayout2.xml" Id="R64a1ad68061a4c40" /><Relationship Type="http://schemas.openxmlformats.org/officeDocument/2006/relationships/slideLayout" Target="/ppt/slideLayouts/slideLayout3.xml" Id="R56a24cbb58134c86" /><Relationship Type="http://schemas.openxmlformats.org/officeDocument/2006/relationships/slideLayout" Target="/ppt/slideLayouts/slideLayout4.xml" Id="Rf939de8b1f9d46df" /><Relationship Type="http://schemas.openxmlformats.org/officeDocument/2006/relationships/slideLayout" Target="/ppt/slideLayouts/slideLayout5.xml" Id="Re18579a9a11b400d" /><Relationship Type="http://schemas.openxmlformats.org/officeDocument/2006/relationships/slideLayout" Target="/ppt/slideLayouts/slideLayout6.xml" Id="Rdcb6249f27d64228" /><Relationship Type="http://schemas.openxmlformats.org/officeDocument/2006/relationships/slideLayout" Target="/ppt/slideLayouts/slideLayout7.xml" Id="Rfd0c3c89e5104093" /><Relationship Type="http://schemas.openxmlformats.org/officeDocument/2006/relationships/slideLayout" Target="/ppt/slideLayouts/slideLayout8.xml" Id="Reae05000c1684a3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dd449ad8c407e"/>
    <p:sldLayoutId xmlns:r="http://schemas.openxmlformats.org/officeDocument/2006/relationships" id="2147483650" r:id="R64a1ad68061a4c40"/>
    <p:sldLayoutId xmlns:r="http://schemas.openxmlformats.org/officeDocument/2006/relationships" id="2147483651" r:id="R56a24cbb58134c86"/>
    <p:sldLayoutId xmlns:r="http://schemas.openxmlformats.org/officeDocument/2006/relationships" id="2147483652" r:id="Rf939de8b1f9d46df"/>
    <p:sldLayoutId xmlns:r="http://schemas.openxmlformats.org/officeDocument/2006/relationships" id="2147483653" r:id="Re18579a9a11b400d"/>
    <p:sldLayoutId xmlns:r="http://schemas.openxmlformats.org/officeDocument/2006/relationships" id="2147483654" r:id="Rdcb6249f27d64228"/>
    <p:sldLayoutId xmlns:r="http://schemas.openxmlformats.org/officeDocument/2006/relationships" id="2147483655" r:id="Rfd0c3c89e5104093"/>
    <p:sldLayoutId xmlns:r="http://schemas.openxmlformats.org/officeDocument/2006/relationships" id="2147483656" r:id="Reae05000c1684a30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 b="1" i="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253c24a0143a1" /><Relationship Type="http://schemas.openxmlformats.org/officeDocument/2006/relationships/notesSlide" Target="/ppt/notesSlides/notesSlide1.xml" Id="R09738fefb16d4e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848b69f5e49ba" /><Relationship Type="http://schemas.openxmlformats.org/officeDocument/2006/relationships/notesSlide" Target="/ppt/notesSlides/notesSlide2.xml" Id="Rdefeaa3220f847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207c674a64634" /><Relationship Type="http://schemas.openxmlformats.org/officeDocument/2006/relationships/notesSlide" Target="/ppt/notesSlides/notesSlide3.xml" Id="R5fd27eb533304c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407df3f8b24194" /><Relationship Type="http://schemas.openxmlformats.org/officeDocument/2006/relationships/notesSlide" Target="/ppt/notesSlides/notesSlide4.xml" Id="R10e5d03a0cb045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efe067b4b4a6e" /><Relationship Type="http://schemas.openxmlformats.org/officeDocument/2006/relationships/notesSlide" Target="/ppt/notesSlides/notesSlide5.xml" Id="R018d3611f26749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写真×手基準のカーボ推定は、何が違うのか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日本の記録型アプリと海外の画像推定型を比較し、本研究プロトタイプの新規性・限界・改善優先度を整理する。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2026年7月｜2–3分レビュー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PHOTO CARB COUNTER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E41CAFE-B9AB-4DD6-87E2-CADEC9C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既存サービスは「記録」「計算」「画像推定」で役割が分かれる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5586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血糖・インスリン・食事を統合。炭水化物早見表と計算支援は強いが、食事量は主に入力・選択。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共通点は、結果をユーザーが確認・修正する設計。違いは、量の推定を人に残すか、画像・深度・参照尺度で自動化するかにある。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日本で普及する食事管理・糖尿病管理を優先し、海外の自動推定型を対照にした。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4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スマートe-SMBG｜糖尿病管理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548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写真から料理候補と栄養を記録。日本の市販品・外食DBと継続支援に強いが、糖尿病専用ではない。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4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あすけん／カロミル｜生活記録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132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写真から炭水化物を算出し、個別式で投与量の参考値まで提示。臨床研究寄りの統合型。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4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CARB-LIFE｜国内研究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5663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料理認識＋深度による量推定＋栄養DB。編集可能で、写真一枚の省力化と臨床研究実績が特徴。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4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SNAQ｜海外の画像推定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段階ごとに人が確認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</a:rPr>
              <a:t>食品候補・手サイズ・追加質問を確認でき、完全自動の誤認を止めやすい。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研究向けに説明可能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</a:rPr>
              <a:t>食品ID、部品重量、範囲、根拠を出し、投与量は推奨しない。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本プロトタイプの新しさは、単眼写真に“手の尺度”を持ち込むこと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手を参照尺度にする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</a:rPr>
              <a:t>深度センサーや専用カードなし。普段の撮影行動に尺度を組み込める。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写真を埋め込み表現に変換してFNDDS 5,432食品を順位付けし、手の大きさ・検出領域を量の手掛かりにする。追加質問でソースや具材を補い、部品別の整数グラム推定から炭水化物量と範囲を算出する。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一般的なスマホ写真でも、認識・量・栄養計算を段階化し、推定の根拠と幅を残す。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優れている可能性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・専用深度端末なしで量の手掛かりを得る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・手動検索を残し、API失敗時も利用可能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・FNDDSの100g値に計算を接続し、推定過程を分解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・範囲と注意を示し、過度な確信を避ける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海外研究ではSNAQの平均絶対誤差は13.1gで、患者自己推定21.0gより小さかった。ただし誤差10g超は37.7%残った。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強みは導入の軽さ、弱みは複合料理の不確実性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効果が落ちる場面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・手が食品と同じ平面にない、隠れる、遠近が強い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・ソース、砂糖、衣、具材が見えない複合料理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・英語中心FNDDSと日本の料理・商品とのずれ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・LLM、撮影条件、候補選択に誤差が連鎖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一般LLMの画像推定では複合食の精度が低い報告もある。本試作には独立精度検証がなく、投与判断には使えない。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画像推定は省力化できるが、臨床的に安全な精度は別問題である。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CC9E9D0-1D7F-463C-9F0E-D173A297D6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独自性は十分にあるが、精度・再現性・失敗条件は未検証。まず同一の実測食で、人、手なし画像、手あり画像を比較する。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B8DA9B55-3832-4652-9F70-82A9F18B9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現在地</a:t>
            </a: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ご飯、麺、丼、弁当、惣菜を実測し、食品同定・重量・炭水化物の誤差を段階別に評価する。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最優先：日本食ベンチマーク</a:t>
            </a: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次の価値は、機能追加より「日本食で誤差を測る」ことで決まる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RECOMMENDATION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313AC673-08C6-4DB9-BF12-6FF7C6DE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バーコード／栄養表示OCR、日本食品DB、履歴・お気に入り、結果修正、将来はCGM連携による振り返り。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取り入れるべき機能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研究プロトタイプ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4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結論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“手を尺度にした説明可能な推定”は差別化要因。日本食での外部検証と編集性が、実用価値を決める。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79684096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2026-07-13T01:10:16.4910000Z</dcterms:created>
  <dcterms:modified xsi:type="dcterms:W3CDTF">2026-07-13T01:10:16.4910000Z</dcterms:modified>
</coreProperties>
</file>